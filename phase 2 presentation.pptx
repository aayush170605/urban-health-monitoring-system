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9" r:id="rId7"/>
    <p:sldId id="268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Lexend" panose="020B0604020202020204" charset="0"/>
      <p:regular r:id="rId15"/>
    </p:embeddedFont>
    <p:embeddedFont>
      <p:font typeface="Lexend Bold" panose="020B0604020202020204" charset="0"/>
      <p:regular r:id="rId16"/>
    </p:embeddedFont>
    <p:embeddedFont>
      <p:font typeface="Lexend SemiBold" panose="020B0604020202020204" charset="0"/>
      <p:regular r:id="rId17"/>
    </p:embeddedFont>
    <p:embeddedFont>
      <p:font typeface="Martian Mono Medium" panose="020B0604020202020204" charset="0"/>
      <p:regular r:id="rId18"/>
    </p:embeddedFont>
    <p:embeddedFont>
      <p:font typeface="Syne Bold" panose="020B0604020202020204" charset="0"/>
      <p:regular r:id="rId19"/>
    </p:embeddedFont>
    <p:embeddedFont>
      <p:font typeface="Syne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96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1E81-66D2-C158-B03C-A761108F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56D26-C048-769D-2385-0761E1EB2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0D50F-406E-39C7-5F3C-93D4164B7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F545-B4C2-6039-6B14-EC165E4BE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1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B680-4340-95CF-2BAA-5ED4E096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50755-55C6-56E4-59BF-E2A100E82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270A4-7F70-E9C6-C8B4-3D3E86D10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EAE50-B20F-8A44-7536-AE9401646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30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141C-9DBD-6148-38CB-EAC1E7A9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4539F-E11D-D442-CEE7-6F1B73CED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9D556-1EDA-E535-AFDD-DDE15BD4E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022CC-94DF-0503-188E-FB9A02C05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8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3453818" cy="3261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1981" y="558800"/>
            <a:ext cx="375861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DESIGN THINKING HUM_4342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226840"/>
            <a:ext cx="5918052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54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Urban Health Monitoring System: Phase 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2951262"/>
            <a:ext cx="59180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Mentors: Dr. Arun Y Patil and Dr. Vandana Jha, Associate Professors, Manipal Institute of Technology Bengaluru, MAHE, Manipal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51626"/>
              </p:ext>
            </p:extLst>
          </p:nvPr>
        </p:nvGraphicFramePr>
        <p:xfrm>
          <a:off x="609585" y="3532287"/>
          <a:ext cx="5918052" cy="2425045"/>
        </p:xfrm>
        <a:graphic>
          <a:graphicData uri="http://schemas.openxmlformats.org/drawingml/2006/table">
            <a:tbl>
              <a:tblPr/>
              <a:tblGrid>
                <a:gridCol w="3550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Name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Registration No.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latin typeface="Lexend" charset="0"/>
                          <a:ea typeface="Lexend" charset="0"/>
                          <a:cs typeface="Lexend" charset="0"/>
                        </a:rPr>
                        <a:t>Uday Banerjee</a:t>
                      </a: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latin typeface="Lexend" charset="0"/>
                          <a:ea typeface="Lexend" charset="0"/>
                          <a:cs typeface="Lexend" charset="0"/>
                        </a:rPr>
                        <a:t>235816336</a:t>
                      </a: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latin typeface="Lexend" charset="0"/>
                          <a:ea typeface="Lexend" charset="0"/>
                          <a:cs typeface="Lexend" charset="0"/>
                        </a:rPr>
                        <a:t>Aayush Sharda</a:t>
                      </a: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latin typeface="Lexend" charset="0"/>
                          <a:ea typeface="Lexend" charset="0"/>
                          <a:cs typeface="Lexend" charset="0"/>
                        </a:rPr>
                        <a:t>235890136</a:t>
                      </a: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767284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59004" y="1848247"/>
            <a:ext cx="68846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39796" y="1803797"/>
            <a:ext cx="47274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24442" y="1630164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52728" y="1711127"/>
            <a:ext cx="7307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4654" y="1666677"/>
            <a:ext cx="4727457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Patent search, publication search and product search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585" y="3421658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6681" y="3502620"/>
            <a:ext cx="73310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39796" y="3458170"/>
            <a:ext cx="4727457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Empathize phase: customer journey mapping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24442" y="3558778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43501" y="3639741"/>
            <a:ext cx="74928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4654" y="3595291"/>
            <a:ext cx="47274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Define the problem statement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585" y="5213251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0529" y="5294213"/>
            <a:ext cx="74541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39796" y="5249763"/>
            <a:ext cx="4727457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Analyze phase: 5-Whys and How might we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24442" y="5350371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46379" y="5431334"/>
            <a:ext cx="74352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4654" y="5386884"/>
            <a:ext cx="47274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Action plan for Phase 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89498" y="1216620"/>
            <a:ext cx="12700" cy="1677194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9585" y="2887464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89498" y="2893814"/>
            <a:ext cx="12700" cy="1677293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95848" y="2887464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9585" y="4564757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89498" y="4571107"/>
            <a:ext cx="12700" cy="1677194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95848" y="4564757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Phase 1 showed that city health problems surface after the harm is done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38179" y="1836341"/>
            <a:ext cx="960910" cy="326132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90575" y="1887141"/>
            <a:ext cx="12657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RECAP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179" y="2289473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Urbanization, pollution and outbreak risk strain city health systems.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76838" y="1836341"/>
            <a:ext cx="829646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629234" y="1887141"/>
            <a:ext cx="113443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GAPS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76838" y="2289473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Siloed data, delayed reporting, low sensor coverage, no predictive view.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38179" y="4309070"/>
            <a:ext cx="1879355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90575" y="4359870"/>
            <a:ext cx="218414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STAKEHOLDERS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8179" y="4762202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City government, hospitals and clinics, environmental agencies, residents.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76838" y="4309070"/>
            <a:ext cx="2141782" cy="326132"/>
          </a:xfrm>
          <a:prstGeom prst="roundRect">
            <a:avLst>
              <a:gd name="adj" fmla="val 49999"/>
            </a:avLst>
          </a:prstGeom>
          <a:solidFill>
            <a:srgbClr val="39B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29234" y="4359870"/>
            <a:ext cx="244657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PROPOSED SCOPE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76838" y="4762202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Air quality, water quality, noise levels, disease surveillance.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Findings: data is fragmented, reactive and uneven, yet stakeholders want one real-time 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987451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089051"/>
            <a:ext cx="355591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6965" y="1607741"/>
            <a:ext cx="447028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Fragmented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96965" y="2037556"/>
            <a:ext cx="447028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Health and environment data sit in separate systems.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24442" y="1987451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039" y="2089051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11822" y="1607741"/>
            <a:ext cx="447028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Reactive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111822" y="2037556"/>
            <a:ext cx="447028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Alerts follow incidents.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09585" y="3648571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3750171"/>
            <a:ext cx="355591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96965" y="3383161"/>
            <a:ext cx="447028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Uneven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396965" y="3812977"/>
            <a:ext cx="469888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Coverage varies sharply by district.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324442" y="3648571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039" y="3750171"/>
            <a:ext cx="355591" cy="355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11822" y="3383161"/>
            <a:ext cx="447028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High demand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111822" y="3812977"/>
            <a:ext cx="447028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Every stakeholder group asked for one shared view.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09585" y="5309791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182" y="5411391"/>
            <a:ext cx="355591" cy="355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96965" y="4930080"/>
            <a:ext cx="1018514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Risks carried forward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1396965" y="5359896"/>
            <a:ext cx="1018514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privacy, sensor cost, system integration, public trust.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089498" y="1607741"/>
            <a:ext cx="12700" cy="154682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609585" y="3148211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6089498" y="3154561"/>
            <a:ext cx="12700" cy="154692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6095848" y="3148211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609585" y="4695130"/>
            <a:ext cx="10972526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8BBB-2152-884A-3BDE-945D0D7A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E0D3B9-CDE4-082D-2E72-76FFB9E1929F}"/>
              </a:ext>
            </a:extLst>
          </p:cNvPr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3Ps: patent, publication and product search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999146-B4BC-9B56-435E-492A4D820822}"/>
              </a:ext>
            </a:extLst>
          </p:cNvPr>
          <p:cNvSpPr/>
          <p:nvPr/>
        </p:nvSpPr>
        <p:spPr>
          <a:xfrm>
            <a:off x="838179" y="1445220"/>
            <a:ext cx="1223337" cy="326132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021880-7518-E519-2730-4EDE523CE5E9}"/>
              </a:ext>
            </a:extLst>
          </p:cNvPr>
          <p:cNvSpPr/>
          <p:nvPr/>
        </p:nvSpPr>
        <p:spPr>
          <a:xfrm>
            <a:off x="990575" y="1496020"/>
            <a:ext cx="152812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PATENTS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FD072B-B495-FB9B-B35C-3BAE13ACD335}"/>
              </a:ext>
            </a:extLst>
          </p:cNvPr>
          <p:cNvSpPr/>
          <p:nvPr/>
        </p:nvSpPr>
        <p:spPr>
          <a:xfrm>
            <a:off x="838179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[CN209878127U — Urban environmental noise monitoring device based on wireless sensor network]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[Relevant precedent for attaching distributed monitoring nodes to urban infrastructure and transmitting measurements remotely.]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CE2C0C-8C72-185B-BFE5-7765782B36EB}"/>
              </a:ext>
            </a:extLst>
          </p:cNvPr>
          <p:cNvSpPr/>
          <p:nvPr/>
        </p:nvSpPr>
        <p:spPr>
          <a:xfrm>
            <a:off x="4597285" y="1445220"/>
            <a:ext cx="1879355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6188F1-E0F4-F1AB-7D82-7952EC8632CB}"/>
              </a:ext>
            </a:extLst>
          </p:cNvPr>
          <p:cNvSpPr/>
          <p:nvPr/>
        </p:nvSpPr>
        <p:spPr>
          <a:xfrm>
            <a:off x="4749681" y="1496020"/>
            <a:ext cx="218414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PUBLICATIONS</a:t>
            </a:r>
            <a:endParaRPr lang="en-US" sz="1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55ABC0-0752-3A8A-C74C-E525A9DFE3D8}"/>
              </a:ext>
            </a:extLst>
          </p:cNvPr>
          <p:cNvSpPr/>
          <p:nvPr/>
        </p:nvSpPr>
        <p:spPr>
          <a:xfrm>
            <a:off x="4597285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[Guha &amp; Gokhale (2023) — Urban workers' cardiovascular health due to exposure to traffic-originated PM2.5 and noise pollution]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[Provides health-oriented justification for considering PM2.5 and noise together.]</a:t>
            </a:r>
            <a:endParaRPr lang="en-US" sz="17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0CA595C-A01C-85EE-2819-203F705DCCFD}"/>
              </a:ext>
            </a:extLst>
          </p:cNvPr>
          <p:cNvSpPr/>
          <p:nvPr/>
        </p:nvSpPr>
        <p:spPr>
          <a:xfrm>
            <a:off x="8356391" y="1445220"/>
            <a:ext cx="1354500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65144F-1DB8-0DD8-D69E-1D6A13FF7C44}"/>
              </a:ext>
            </a:extLst>
          </p:cNvPr>
          <p:cNvSpPr/>
          <p:nvPr/>
        </p:nvSpPr>
        <p:spPr>
          <a:xfrm>
            <a:off x="8508787" y="1496020"/>
            <a:ext cx="16592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639DB0B-33EC-453D-A087-197E6A4B41BE}"/>
              </a:ext>
            </a:extLst>
          </p:cNvPr>
          <p:cNvSpPr/>
          <p:nvPr/>
        </p:nvSpPr>
        <p:spPr>
          <a:xfrm>
            <a:off x="8356391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[AtomSenses Smart City Solution / Multi-Parameter Urban Sensor]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[Demonstrates that multi-parameter sensing on distributed urban infrastructure is commercially feasible.]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3524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BE966-CF75-0DB4-9AE3-266AE04B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014BE5-2D09-0215-B13C-EB9A867CC2BD}"/>
              </a:ext>
            </a:extLst>
          </p:cNvPr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3Ps: patent, publication and product search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73C3C4-48F7-BE98-A768-03F5817F353F}"/>
              </a:ext>
            </a:extLst>
          </p:cNvPr>
          <p:cNvSpPr/>
          <p:nvPr/>
        </p:nvSpPr>
        <p:spPr>
          <a:xfrm>
            <a:off x="838179" y="1445220"/>
            <a:ext cx="1223337" cy="326132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369E10-7ABF-9C4C-7D64-53F470FDED75}"/>
              </a:ext>
            </a:extLst>
          </p:cNvPr>
          <p:cNvSpPr/>
          <p:nvPr/>
        </p:nvSpPr>
        <p:spPr>
          <a:xfrm>
            <a:off x="990575" y="1496020"/>
            <a:ext cx="152812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PATENTS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DD29DF-DB09-4D33-2AE7-ED1942A8F6F0}"/>
              </a:ext>
            </a:extLst>
          </p:cNvPr>
          <p:cNvSpPr/>
          <p:nvPr/>
        </p:nvSpPr>
        <p:spPr>
          <a:xfrm>
            <a:off x="838179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[CN102506991B — Distributed urban environment noise real-time automatic monitoring system]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[Relevant precedent for distributed spatial monitoring, centralized analytics and map-based urban noise visualization.]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6FAEF8-BD25-F4E5-A461-45521DE48352}"/>
              </a:ext>
            </a:extLst>
          </p:cNvPr>
          <p:cNvSpPr/>
          <p:nvPr/>
        </p:nvSpPr>
        <p:spPr>
          <a:xfrm>
            <a:off x="4597285" y="1445220"/>
            <a:ext cx="1879355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A4D983-1772-A4A9-0946-1BB32A9D6074}"/>
              </a:ext>
            </a:extLst>
          </p:cNvPr>
          <p:cNvSpPr/>
          <p:nvPr/>
        </p:nvSpPr>
        <p:spPr>
          <a:xfrm>
            <a:off x="4749681" y="1496020"/>
            <a:ext cx="218414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PUBLICATIONS</a:t>
            </a:r>
            <a:endParaRPr lang="en-US" sz="1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946AB8-1531-0803-CF73-E2BDD008E390}"/>
              </a:ext>
            </a:extLst>
          </p:cNvPr>
          <p:cNvSpPr/>
          <p:nvPr/>
        </p:nvSpPr>
        <p:spPr>
          <a:xfrm>
            <a:off x="4597285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[Agarwal, Swami &amp; Gupta (2009) — Development of a noise prediction model under interrupted traffic flow conditions: a case study for Jaipur city]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[Directly supports noise and honking as measurable stress-related variables at signalized intersections.]</a:t>
            </a:r>
            <a:endParaRPr lang="en-US" sz="17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0EFB2E5-3630-DA1F-72BC-B8EBD5AC293A}"/>
              </a:ext>
            </a:extLst>
          </p:cNvPr>
          <p:cNvSpPr/>
          <p:nvPr/>
        </p:nvSpPr>
        <p:spPr>
          <a:xfrm>
            <a:off x="8356391" y="1445220"/>
            <a:ext cx="1354500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78BB7C-6C0C-D0F5-83F6-C8A746FC0AE1}"/>
              </a:ext>
            </a:extLst>
          </p:cNvPr>
          <p:cNvSpPr/>
          <p:nvPr/>
        </p:nvSpPr>
        <p:spPr>
          <a:xfrm>
            <a:off x="8508787" y="1496020"/>
            <a:ext cx="16592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12B390C-402D-F96E-19D7-7D872F9C4021}"/>
              </a:ext>
            </a:extLst>
          </p:cNvPr>
          <p:cNvSpPr/>
          <p:nvPr/>
        </p:nvSpPr>
        <p:spPr>
          <a:xfrm>
            <a:off x="8356391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</a:t>
            </a:r>
            <a:r>
              <a:rPr lang="en-US" sz="1700" dirty="0" err="1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Polludrone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— </a:t>
            </a:r>
            <a:r>
              <a:rPr lang="en-US" sz="1700" dirty="0" err="1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TechnoValue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[Demonstrates a commercially available integrated environmental-monitoring approach close to the proposed sensor layer.]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1741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57DD5-EB28-60F4-9FE2-845FDBA9D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60F3B9-ADE4-14FD-6A17-DE9F51EFA263}"/>
              </a:ext>
            </a:extLst>
          </p:cNvPr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3Ps: patent, publication and product search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154BD9-D674-3838-4D66-6DC892604E34}"/>
              </a:ext>
            </a:extLst>
          </p:cNvPr>
          <p:cNvSpPr/>
          <p:nvPr/>
        </p:nvSpPr>
        <p:spPr>
          <a:xfrm>
            <a:off x="838179" y="1445220"/>
            <a:ext cx="1223337" cy="326132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181019-A571-E7B4-63DC-EBBF7EF34514}"/>
              </a:ext>
            </a:extLst>
          </p:cNvPr>
          <p:cNvSpPr/>
          <p:nvPr/>
        </p:nvSpPr>
        <p:spPr>
          <a:xfrm>
            <a:off x="990575" y="1496020"/>
            <a:ext cx="152812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PATENTS</a:t>
            </a:r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7BC315-E5B9-A097-3B56-5D87DCB56C5E}"/>
              </a:ext>
            </a:extLst>
          </p:cNvPr>
          <p:cNvSpPr/>
          <p:nvPr/>
        </p:nvSpPr>
        <p:spPr>
          <a:xfrm>
            <a:off x="838179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[CN116205771B — Acoustic environment information system based on noise monitoring and prediction calibration]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[Especially relevant to the proposed integration of traffic, environmental context, prediction and spatial decision support.]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FC2664A-986A-F4D5-F99F-03D1C70C7408}"/>
              </a:ext>
            </a:extLst>
          </p:cNvPr>
          <p:cNvSpPr/>
          <p:nvPr/>
        </p:nvSpPr>
        <p:spPr>
          <a:xfrm>
            <a:off x="4597285" y="1445220"/>
            <a:ext cx="1879355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F6035C-3537-A7F1-6BE4-276B56028152}"/>
              </a:ext>
            </a:extLst>
          </p:cNvPr>
          <p:cNvSpPr/>
          <p:nvPr/>
        </p:nvSpPr>
        <p:spPr>
          <a:xfrm>
            <a:off x="4749681" y="1496020"/>
            <a:ext cx="218414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PUBLICATIONS</a:t>
            </a:r>
            <a:endParaRPr lang="en-US" sz="1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BE3EC4-8275-8B1F-28CC-7789738CEF2F}"/>
              </a:ext>
            </a:extLst>
          </p:cNvPr>
          <p:cNvSpPr/>
          <p:nvPr/>
        </p:nvSpPr>
        <p:spPr>
          <a:xfrm>
            <a:off x="4597285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[Modelling traffic noise-induced annoyance at intersections and its association with psychological health (2025)]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[Most directly aligned with the project's stress concept and supports linking measurable intersection conditions with human-perceived effects.]</a:t>
            </a:r>
            <a:endParaRPr lang="en-US" sz="17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54428B9-4400-8F3B-9060-85E9B5D79F18}"/>
              </a:ext>
            </a:extLst>
          </p:cNvPr>
          <p:cNvSpPr/>
          <p:nvPr/>
        </p:nvSpPr>
        <p:spPr>
          <a:xfrm>
            <a:off x="8356391" y="1445220"/>
            <a:ext cx="1354500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895B911-6A58-96B7-CDBE-4619CD5FEB73}"/>
              </a:ext>
            </a:extLst>
          </p:cNvPr>
          <p:cNvSpPr/>
          <p:nvPr/>
        </p:nvSpPr>
        <p:spPr>
          <a:xfrm>
            <a:off x="8508787" y="1496020"/>
            <a:ext cx="16592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276261C-873A-3371-1691-054C31ABB981}"/>
              </a:ext>
            </a:extLst>
          </p:cNvPr>
          <p:cNvSpPr/>
          <p:nvPr/>
        </p:nvSpPr>
        <p:spPr>
          <a:xfrm>
            <a:off x="8356391" y="1898352"/>
            <a:ext cx="2997125" cy="381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[iSenseAQ1000+ — </a:t>
            </a:r>
            <a:r>
              <a:rPr lang="en-US" sz="1700" dirty="0" err="1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Intermatic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700" dirty="0">
              <a:solidFill>
                <a:srgbClr val="1E2328"/>
              </a:solidFill>
              <a:latin typeface="Lexend" pitchFamily="34" charset="0"/>
              <a:ea typeface="Lexend" pitchFamily="34" charset="-122"/>
              <a:cs typeface="Lexend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[Demonstrates practical co-location of air-quality and noise sensing with real-time connectivity.]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7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58E9697-A8C9-5FC5-A5FA-0C6F75C6CA12}"/>
              </a:ext>
            </a:extLst>
          </p:cNvPr>
          <p:cNvSpPr/>
          <p:nvPr/>
        </p:nvSpPr>
        <p:spPr>
          <a:xfrm>
            <a:off x="609585" y="594618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TAKEAWAY TO DRAW: WHERE EXISTING SOLUTIONS LEAVE THE PHASE 1 GAPS OPEN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942385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Four high-traffic locations near Manipal University suffer heavy traffic, noise and air pollution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1981" y="1760141"/>
            <a:ext cx="406390" cy="4064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25688" y="1855391"/>
            <a:ext cx="68846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1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252266"/>
            <a:ext cx="2031949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3588941"/>
            <a:ext cx="232404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Bagalur Cross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1981" y="4018756"/>
            <a:ext cx="2476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Traffic · noise · air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543211" y="1760141"/>
            <a:ext cx="406390" cy="4064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85785" y="1855391"/>
            <a:ext cx="7307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2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211" y="2252266"/>
            <a:ext cx="2031949" cy="1143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3211" y="3588941"/>
            <a:ext cx="2324042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Phoenix Mall of Asia entry/exit gate, service road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543211" y="4567238"/>
            <a:ext cx="2476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Traffic · noise · air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24442" y="1760141"/>
            <a:ext cx="406390" cy="4064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6465825" y="1855391"/>
            <a:ext cx="73310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3</a:t>
            </a:r>
            <a:endParaRPr lang="en-US" sz="17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2252266"/>
            <a:ext cx="2031949" cy="1143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4442" y="3588941"/>
            <a:ext cx="232404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Near Galleria Mall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324442" y="4018756"/>
            <a:ext cx="2476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Traffic · noise · air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105672" y="1760141"/>
            <a:ext cx="406390" cy="4064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9239019" y="1855391"/>
            <a:ext cx="74928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4</a:t>
            </a:r>
            <a:endParaRPr lang="en-US" sz="17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672" y="2252266"/>
            <a:ext cx="2031949" cy="1143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05672" y="3588941"/>
            <a:ext cx="2324042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Hebbal Flyover entry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105672" y="4292997"/>
            <a:ext cx="24764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Traffic · noise · air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09585" y="594618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SHARED PATTERN: HEAVY TRAFFIC FEEDS BOTH NOISE AND AIR POLLUTION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Empathize: a commuter's journey through the hotspots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216620"/>
          <a:ext cx="10972525" cy="3936109"/>
        </p:xfrm>
        <a:graphic>
          <a:graphicData uri="http://schemas.openxmlformats.org/drawingml/2006/table">
            <a:tbl>
              <a:tblPr/>
              <a:tblGrid>
                <a:gridCol w="1860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9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9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Travel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Wait in traffic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Exposure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Symptoms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Response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9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Actions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Daily commute begins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Idles at the junction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Breathes fumes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Cough, headache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Closes windows, detours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Thoughts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"Same route again"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"When will this move?"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"The air feels heavy"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"Is this the traffic?"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"Nobody warns us"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Pain points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Noise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Fumes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No warning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Stress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No local data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Opportunities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Live exposure view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Route alerts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Local sensing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Early warning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Shared data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9585" y="5305227"/>
            <a:ext cx="2141782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61981" y="5356027"/>
            <a:ext cx="244657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DAILY COMMUTER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859314" y="5305227"/>
            <a:ext cx="2272945" cy="326132"/>
          </a:xfrm>
          <a:prstGeom prst="roundRect">
            <a:avLst>
              <a:gd name="adj" fmla="val 49999"/>
            </a:avLst>
          </a:prstGeom>
          <a:solidFill>
            <a:srgbClr val="39B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011710" y="5356027"/>
            <a:ext cx="25777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NEARBY RESIDENT</a:t>
            </a:r>
            <a:endParaRPr lang="en-US" sz="1350" dirty="0"/>
          </a:p>
        </p:txBody>
      </p:sp>
      <p:sp>
        <p:nvSpPr>
          <p:cNvPr id="3" name="Shape 5"/>
          <p:cNvSpPr/>
          <p:nvPr/>
        </p:nvSpPr>
        <p:spPr>
          <a:xfrm>
            <a:off x="5240206" y="5305227"/>
            <a:ext cx="2272945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392603" y="5356027"/>
            <a:ext cx="25777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ROADSIDE VENDOR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9585" y="5825034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Cells are team hypotheses. [Team to confirm each observation on site.]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08000"/>
            <a:ext cx="2535373" cy="3261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1981" y="558800"/>
            <a:ext cx="284016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854398"/>
            <a:ext cx="6807030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statement: people at traffic hotspots are exposed to pollution with no local, real-time warning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585" y="3634780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59004" y="3715742"/>
            <a:ext cx="68846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39796" y="3664942"/>
            <a:ext cx="627681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Who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commuters, residents and workers near busy junctions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585" y="4165005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7871" y="4245967"/>
            <a:ext cx="7307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39796" y="4195167"/>
            <a:ext cx="627681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Need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 shared, real-time view of air and noise exposure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585" y="4695230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6681" y="4776192"/>
            <a:ext cx="73310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39796" y="4725392"/>
            <a:ext cx="627681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Insight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monitoring is sparse and reactive, so harm comes first</a:t>
            </a:r>
            <a:endParaRPr lang="en-US" sz="17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 used 5-Whys to trace the hotspot problem down to its root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80" y="1755477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62199" y="1836440"/>
            <a:ext cx="68846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42991" y="1785640"/>
            <a:ext cx="100359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Why are people near these junctions unwell or stressed?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They are exposed to high air and noise pollution.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780" y="2890838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41066" y="2971800"/>
            <a:ext cx="7307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42991" y="2921000"/>
            <a:ext cx="1023911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Why is exposure high?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Heavy, slow and idling traffic concentrates at these points.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2780" y="3723977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9876" y="3804940"/>
            <a:ext cx="73310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42991" y="3754140"/>
            <a:ext cx="100359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Why does traffic concentrate there?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Mall gates, a flyover entry and a cross merge flows with little traffic management.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80" y="4859338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31839" y="4940300"/>
            <a:ext cx="74928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42991" y="4889500"/>
            <a:ext cx="1023911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Why is nobody acting on it?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There is no local, continuous measurement to show how bad it is.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585" y="5544840"/>
            <a:ext cx="10972526" cy="703560"/>
          </a:xfrm>
          <a:prstGeom prst="roundRect">
            <a:avLst>
              <a:gd name="adj" fmla="val 21661"/>
            </a:avLst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12780" y="5715298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33724" y="5796260"/>
            <a:ext cx="74541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42991" y="5745460"/>
            <a:ext cx="1023911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Why is there none?</a:t>
            </a: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Monitoring is sparse, siloed across agencies and reactive. </a:t>
            </a: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Root cause.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the 5-Whys approach did for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38179" y="1445220"/>
            <a:ext cx="960910" cy="326132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90575" y="1496020"/>
            <a:ext cx="12657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SHIFT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179" y="1898352"/>
            <a:ext cx="487667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Moved us from the symptom (pollution) to a systems cause (no connected, real-time monitoring).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76838" y="1445220"/>
            <a:ext cx="1485764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629234" y="1496020"/>
            <a:ext cx="17905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CONFIRMED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76838" y="1898352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Phase 1 gaps: siloed data, low coverage, no predictive view.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38179" y="4113510"/>
            <a:ext cx="1485764" cy="326132"/>
          </a:xfrm>
          <a:prstGeom prst="roundRect">
            <a:avLst>
              <a:gd name="adj" fmla="val 49999"/>
            </a:avLst>
          </a:prstGeom>
          <a:solidFill>
            <a:srgbClr val="39B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90575" y="4164310"/>
            <a:ext cx="17905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DIRECTION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8179" y="4566642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Pointed the solution at sensing and sharing, not only at reducing traffic.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76838" y="4113510"/>
            <a:ext cx="1092073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29234" y="4164310"/>
            <a:ext cx="139686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LIMITS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76838" y="4566642"/>
            <a:ext cx="487667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chain rests on observation, so on-site readings must validate it.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951</Words>
  <Application>Microsoft Office PowerPoint</Application>
  <PresentationFormat>Widescreen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Lexend SemiBold</vt:lpstr>
      <vt:lpstr>Lexend Bold</vt:lpstr>
      <vt:lpstr>Syne SemiBold</vt:lpstr>
      <vt:lpstr>Arial</vt:lpstr>
      <vt:lpstr>Martian Mono Medium</vt:lpstr>
      <vt:lpstr>Syne Bold</vt:lpstr>
      <vt:lpstr>Lexend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Uday</dc:creator>
  <cp:lastModifiedBy>xd lol</cp:lastModifiedBy>
  <cp:revision>2</cp:revision>
  <dcterms:created xsi:type="dcterms:W3CDTF">2026-10-05T16:42:33Z</dcterms:created>
  <dcterms:modified xsi:type="dcterms:W3CDTF">2026-10-05T18:16:10Z</dcterms:modified>
</cp:coreProperties>
</file>